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2" d="100"/>
          <a:sy n="52" d="100"/>
        </p:scale>
        <p:origin x="778" y="11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9313" b="-6931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53933" y="2694198"/>
            <a:ext cx="16230600" cy="149974"/>
            <a:chOff x="0" y="0"/>
            <a:chExt cx="4052983" cy="374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173024" y="365758"/>
            <a:ext cx="10395942" cy="1116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59"/>
              </a:lnSpc>
              <a:spcBef>
                <a:spcPct val="0"/>
              </a:spcBef>
            </a:pPr>
            <a:r>
              <a:rPr lang="en-US" sz="5999" b="1" spc="-2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 MATRIX HACKATHON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63982" y="1687516"/>
            <a:ext cx="3301157" cy="866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45"/>
              </a:lnSpc>
              <a:spcBef>
                <a:spcPct val="0"/>
              </a:spcBef>
            </a:pPr>
            <a:r>
              <a:rPr lang="en-US" sz="4599" b="1" spc="-16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5957" y="3568777"/>
            <a:ext cx="9557696" cy="55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4" lvl="1" indent="-345437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TITLE : Peer Support Connector (HM-49)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6505" y="5243019"/>
            <a:ext cx="6204514" cy="55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: </a:t>
            </a:r>
            <a:r>
              <a:rPr lang="en-US" sz="3199" b="1" spc="-115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The_Visionaries</a:t>
            </a:r>
            <a:endParaRPr lang="en-US" sz="3199" b="1" spc="-115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85956" y="6919947"/>
            <a:ext cx="4230588" cy="607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MEMBERS 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EEA9D6-22B9-1D6A-77EB-06E70D1512CB}"/>
              </a:ext>
            </a:extLst>
          </p:cNvPr>
          <p:cNvSpPr txBox="1"/>
          <p:nvPr/>
        </p:nvSpPr>
        <p:spPr>
          <a:xfrm>
            <a:off x="4746578" y="6917261"/>
            <a:ext cx="4397422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 Times New Roman Bold"/>
                <a:cs typeface="Times New Roman" panose="02020603050405020304" pitchFamily="18" charset="0"/>
              </a:rPr>
              <a:t>ANANYA SHARMA</a:t>
            </a:r>
          </a:p>
          <a:p>
            <a:r>
              <a:rPr lang="en-US" sz="3200" b="1" dirty="0">
                <a:solidFill>
                  <a:schemeClr val="bg1"/>
                </a:solidFill>
                <a:latin typeface=" Times New Roman Bold"/>
                <a:cs typeface="Times New Roman" panose="02020603050405020304" pitchFamily="18" charset="0"/>
              </a:rPr>
              <a:t>VANSHIKA  AWASTHI</a:t>
            </a:r>
          </a:p>
          <a:p>
            <a:r>
              <a:rPr lang="en-IN" sz="3200" b="1" dirty="0">
                <a:solidFill>
                  <a:schemeClr val="bg1"/>
                </a:solidFill>
                <a:latin typeface=" Times New Roman Bold"/>
                <a:cs typeface="Times New Roman" panose="02020603050405020304" pitchFamily="18" charset="0"/>
              </a:rPr>
              <a:t>SAYOM BISWAS</a:t>
            </a:r>
          </a:p>
          <a:p>
            <a:r>
              <a:rPr lang="en-IN" sz="3200" b="1" dirty="0">
                <a:solidFill>
                  <a:schemeClr val="bg1"/>
                </a:solidFill>
                <a:latin typeface=" Times New Roman Bold"/>
                <a:cs typeface="Times New Roman" panose="02020603050405020304" pitchFamily="18" charset="0"/>
              </a:rPr>
              <a:t>MOHIT BHOOTRA</a:t>
            </a:r>
            <a:endParaRPr lang="en-US" sz="3200" b="1" dirty="0">
              <a:solidFill>
                <a:schemeClr val="bg1"/>
              </a:solidFill>
              <a:latin typeface=" Times New Roman Bold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836741" y="525462"/>
            <a:ext cx="6614517" cy="82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8780" y="3934151"/>
            <a:ext cx="16299944" cy="1794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u="sng" spc="-271" dirty="0">
                <a:solidFill>
                  <a:srgbClr val="FFFFFF"/>
                </a:solidFill>
                <a:latin typeface="Bahnschrift SemiBold" panose="020B0502040204020203" pitchFamily="34" charset="0"/>
                <a:ea typeface="Times New Roman Bold"/>
                <a:cs typeface="Times New Roman Bold"/>
                <a:sym typeface="Times New Roman Bold"/>
              </a:rPr>
              <a:t>Describe the problem clearly: </a:t>
            </a:r>
          </a:p>
          <a:p>
            <a:pPr marL="722313" lvl="1" algn="l">
              <a:lnSpc>
                <a:spcPts val="4759"/>
              </a:lnSpc>
              <a:spcBef>
                <a:spcPct val="0"/>
              </a:spcBef>
            </a:pPr>
            <a:r>
              <a:rPr lang="en-US" sz="3399" spc="-271" dirty="0">
                <a:solidFill>
                  <a:srgbClr val="FFFFFF"/>
                </a:solidFill>
                <a:latin typeface="Candara Light" panose="020E0502030303020204" pitchFamily="34" charset="0"/>
                <a:ea typeface="Cambria" panose="02040503050406030204" pitchFamily="18" charset="0"/>
                <a:cs typeface="Times New Roman Bold"/>
                <a:sym typeface="Times New Roman Bold"/>
              </a:rPr>
              <a:t>Students avoid seeking help from current Mental Health Platforms  because  they lack true anonymity, hyper-local peer empathy and frictionless access during crisis.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8781" y="5809941"/>
            <a:ext cx="16180519" cy="1794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u="sng" spc="-271" dirty="0">
                <a:solidFill>
                  <a:srgbClr val="FFFFFF"/>
                </a:solidFill>
                <a:latin typeface="Bahnschrift SemiBold" panose="020B0502040204020203" pitchFamily="34" charset="0"/>
                <a:ea typeface="Times New Roman Bold"/>
                <a:cs typeface="Times New Roman Bold"/>
                <a:sym typeface="Times New Roman Bold"/>
              </a:rPr>
              <a:t>Who is affected by this problem?</a:t>
            </a:r>
          </a:p>
          <a:p>
            <a:pPr marL="722313" lvl="1" algn="l">
              <a:lnSpc>
                <a:spcPts val="4759"/>
              </a:lnSpc>
              <a:spcBef>
                <a:spcPct val="0"/>
              </a:spcBef>
            </a:pPr>
            <a:r>
              <a:rPr lang="en-US" sz="3399" spc="-271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University students are the one suffering from academic stress is silence and the campus administrators who are completely blind to their struggles.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7201" y="7689426"/>
            <a:ext cx="16321615" cy="1794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u="sng" spc="-271" dirty="0">
                <a:solidFill>
                  <a:srgbClr val="FFFFFF"/>
                </a:solidFill>
                <a:latin typeface="Bahnschrift SemiBold" panose="020B0502040204020203" pitchFamily="34" charset="0"/>
                <a:ea typeface="Times New Roman Bold"/>
                <a:cs typeface="Times New Roman Bold"/>
                <a:sym typeface="Times New Roman Bold"/>
              </a:rPr>
              <a:t>Why this problem is important?</a:t>
            </a:r>
          </a:p>
          <a:p>
            <a:pPr marL="722313" lvl="1">
              <a:lnSpc>
                <a:spcPts val="4759"/>
              </a:lnSpc>
              <a:spcBef>
                <a:spcPct val="0"/>
              </a:spcBef>
            </a:pPr>
            <a:r>
              <a:rPr lang="en-US" sz="3399" spc="-271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Because Untreated campus stress rapidly escalates into severe mental health crises and academic dropouts, making a frictionless, anonymous safety net essential 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755661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369709" y="525462"/>
            <a:ext cx="9308753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 SOLUTIONS  AND  GAPS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21872" y="3082890"/>
            <a:ext cx="12752036" cy="575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u="sng" spc="-271" dirty="0">
                <a:solidFill>
                  <a:srgbClr val="FFFFFF"/>
                </a:solidFill>
                <a:latin typeface="Bahnschrift SemiBold" panose="020B0502040204020203" pitchFamily="34" charset="0"/>
                <a:ea typeface="Times New Roman Bold"/>
                <a:cs typeface="Times New Roman Bold"/>
                <a:sym typeface="Times New Roman Bold"/>
              </a:rPr>
              <a:t>List of existing Solutions </a:t>
            </a:r>
            <a:r>
              <a:rPr lang="en-US" sz="3399" b="1" spc="-271" dirty="0">
                <a:solidFill>
                  <a:srgbClr val="FFFFFF"/>
                </a:solidFill>
                <a:latin typeface="Bahnschrift SemiBold" panose="020B0502040204020203" pitchFamily="34" charset="0"/>
                <a:ea typeface="Times New Roman Bold"/>
                <a:cs typeface="Times New Roman Bold"/>
                <a:sym typeface="Times New Roman Bold"/>
              </a:rPr>
              <a:t>:   		</a:t>
            </a:r>
            <a:r>
              <a:rPr lang="en-US" sz="3399" spc="-271" dirty="0" err="1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TalkCampus</a:t>
            </a:r>
            <a:r>
              <a:rPr lang="en-US" sz="3399" spc="-271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, </a:t>
            </a:r>
            <a:r>
              <a:rPr lang="en-US" sz="3399" spc="-271" dirty="0" err="1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Togetherall</a:t>
            </a:r>
            <a:r>
              <a:rPr lang="en-US" sz="3399" spc="-271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  and 7 cups</a:t>
            </a:r>
            <a:r>
              <a:rPr lang="en-US" sz="3399" b="1" spc="-271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21872" y="4058089"/>
            <a:ext cx="16507816" cy="1192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22313" lvl="1" indent="-368300" algn="l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399" b="1" u="sng" spc="-271" dirty="0">
                <a:solidFill>
                  <a:srgbClr val="FFFFFF"/>
                </a:solidFill>
                <a:latin typeface="Bahnschrift SemiBold" panose="020B0502040204020203" pitchFamily="34" charset="0"/>
                <a:ea typeface="Times New Roman Bold"/>
                <a:cs typeface="Times New Roman Bold"/>
                <a:sym typeface="Times New Roman Bold"/>
              </a:rPr>
              <a:t>Mention their Limitations:</a:t>
            </a:r>
            <a:r>
              <a:rPr lang="en-US" sz="3399" b="1" u="sng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		</a:t>
            </a:r>
            <a:r>
              <a:rPr lang="en-US" sz="3399" spc="-271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The Global Empathy Gap, “Fake” Anonymity &amp; Surveillance, </a:t>
            </a: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r>
              <a:rPr lang="en-US" sz="3399" spc="-271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							Quality Control Issues,  High-Friction (Clinical UI).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21872" y="5342521"/>
            <a:ext cx="16507815" cy="48856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u="sng" spc="-271" dirty="0">
                <a:solidFill>
                  <a:srgbClr val="FFFFFF"/>
                </a:solidFill>
                <a:latin typeface="Bahnschrift SemiBold" panose="020B0502040204020203" pitchFamily="34" charset="0"/>
                <a:ea typeface="Times New Roman Bold"/>
                <a:cs typeface="Times New Roman Bold"/>
                <a:sym typeface="Times New Roman Bold"/>
              </a:rPr>
              <a:t>Explain the gap your project will address: </a:t>
            </a:r>
          </a:p>
          <a:p>
            <a:pPr marL="1254125" lvl="1" indent="-514350" algn="l">
              <a:lnSpc>
                <a:spcPts val="4759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3399" spc="-271" dirty="0">
                <a:solidFill>
                  <a:srgbClr val="FFFFFF"/>
                </a:solidFill>
                <a:latin typeface="Candara" panose="020E0502030303020204" pitchFamily="34" charset="0"/>
                <a:ea typeface="Times New Roman Bold"/>
                <a:cs typeface="Times New Roman Bold"/>
                <a:sym typeface="Times New Roman Bold"/>
              </a:rPr>
              <a:t>True Anonymity:   		</a:t>
            </a:r>
            <a:r>
              <a:rPr lang="en-US" sz="3399" spc="-271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Zero sign-ups and ephemeral aliases guarantee absolute privacy without 						tracking.</a:t>
            </a:r>
          </a:p>
          <a:p>
            <a:pPr marL="1254125" lvl="1" indent="-514350" algn="l">
              <a:lnSpc>
                <a:spcPts val="4759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3399" spc="-271" dirty="0">
                <a:solidFill>
                  <a:srgbClr val="FFFFFF"/>
                </a:solidFill>
                <a:latin typeface="Candara" panose="020E0502030303020204" pitchFamily="34" charset="0"/>
                <a:ea typeface="Times New Roman Bold"/>
                <a:cs typeface="Times New Roman Bold"/>
                <a:sym typeface="Times New Roman Bold"/>
              </a:rPr>
              <a:t>Hyper-Local Empathy:		</a:t>
            </a:r>
            <a:r>
              <a:rPr lang="en-US" sz="3399" spc="-271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Matching students exclusively with vetted campus peers who understand 						local pressures.</a:t>
            </a:r>
          </a:p>
          <a:p>
            <a:pPr marL="1254125" lvl="1" indent="-514350" algn="l">
              <a:lnSpc>
                <a:spcPts val="4759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3399" spc="-271" dirty="0">
                <a:solidFill>
                  <a:srgbClr val="FFFFFF"/>
                </a:solidFill>
                <a:latin typeface="Candara" panose="020E0502030303020204" pitchFamily="34" charset="0"/>
                <a:ea typeface="Times New Roman Bold"/>
                <a:cs typeface="Times New Roman Bold"/>
                <a:sym typeface="Times New Roman Bold"/>
              </a:rPr>
              <a:t>Smart &amp; Fast Matching: 	</a:t>
            </a:r>
            <a:r>
              <a:rPr lang="en-US" sz="3399" spc="-271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Replacing endless scrolling with instant, tag-based routing to the right peer.</a:t>
            </a:r>
          </a:p>
          <a:p>
            <a:pPr marL="1254125" lvl="1" indent="-514350" algn="l">
              <a:lnSpc>
                <a:spcPts val="4759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3399" spc="-271" dirty="0">
                <a:solidFill>
                  <a:srgbClr val="FFFFFF"/>
                </a:solidFill>
                <a:latin typeface="Candara" panose="020E0502030303020204" pitchFamily="34" charset="0"/>
                <a:ea typeface="Times New Roman Bold"/>
                <a:cs typeface="Times New Roman Bold"/>
                <a:sym typeface="Times New Roman Bold"/>
              </a:rPr>
              <a:t>Interactive Relief: 		</a:t>
            </a:r>
            <a:r>
              <a:rPr lang="en-US" sz="3399" spc="-271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Swapping static PDFs for immediate, UI-driven coping tools and instant 						campus emergency routing.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21872" y="1656550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113000" y="525462"/>
            <a:ext cx="6320879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 SOLUTION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50042" y="2851061"/>
            <a:ext cx="16009258" cy="13234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spcBef>
                <a:spcPct val="0"/>
              </a:spcBef>
              <a:buFont typeface="Arial"/>
              <a:buChar char="•"/>
            </a:pPr>
            <a:r>
              <a:rPr lang="en-US" sz="3400" b="1" spc="-271" dirty="0">
                <a:solidFill>
                  <a:srgbClr val="FFFFFF"/>
                </a:solidFill>
                <a:latin typeface="Bahnschrift SemiBold" panose="020B0502040204020203" pitchFamily="34" charset="0"/>
                <a:ea typeface="Times New Roman Bold"/>
                <a:cs typeface="Times New Roman Bold"/>
                <a:sym typeface="Times New Roman Bold"/>
              </a:rPr>
              <a:t>Explain your solution clearly: </a:t>
            </a:r>
            <a:r>
              <a:rPr lang="en-US" sz="2600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We are  building a hyper-local, fiction-free mental health dispatch system. Unlike bloated corporate platforms, our application provides immediate, 100% anonymous peers-to-peer  support tailored strictly to the unique ecosystem and pressures of our university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68810" y="4343903"/>
            <a:ext cx="16009258" cy="2616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Bahnschrift SemiBold" panose="020B0502040204020203" pitchFamily="34" charset="0"/>
                <a:ea typeface="Times New Roman Bold"/>
                <a:cs typeface="Times New Roman Bold"/>
                <a:sym typeface="Times New Roman Bold"/>
              </a:rPr>
              <a:t>List key features: </a:t>
            </a:r>
          </a:p>
          <a:p>
            <a:pPr marL="1254125" lvl="1" indent="-457200" algn="l">
              <a:spcBef>
                <a:spcPct val="0"/>
              </a:spcBef>
              <a:buFont typeface="+mj-lt"/>
              <a:buAutoNum type="arabicPeriod"/>
            </a:pPr>
            <a:r>
              <a:rPr lang="en-US" sz="2600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Zero-login access, using temporary generated identities and local storage JWTs.  </a:t>
            </a:r>
          </a:p>
          <a:p>
            <a:pPr marL="1254125" lvl="1" indent="-457200" algn="l">
              <a:spcBef>
                <a:spcPct val="0"/>
              </a:spcBef>
              <a:buFont typeface="+mj-lt"/>
              <a:buAutoNum type="arabicPeriod"/>
            </a:pPr>
            <a:r>
              <a:rPr lang="en-US" sz="2600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Instantly pairs students with campus peers based on specific stress tags. </a:t>
            </a:r>
          </a:p>
          <a:p>
            <a:pPr marL="1254125" lvl="1" indent="-457200" algn="l">
              <a:spcBef>
                <a:spcPct val="0"/>
              </a:spcBef>
              <a:buFont typeface="+mj-lt"/>
              <a:buAutoNum type="arabicPeriod"/>
            </a:pPr>
            <a:r>
              <a:rPr lang="en-US" sz="2600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Tier-3 Safeguarding Protocol:  Automated “Trigger-word Middleware” that detects high-risk language and instantly routes to campus emergency contacts.</a:t>
            </a:r>
          </a:p>
          <a:p>
            <a:pPr marL="1254125" lvl="1" indent="-457200" algn="l">
              <a:spcBef>
                <a:spcPct val="0"/>
              </a:spcBef>
              <a:buFont typeface="+mj-lt"/>
              <a:buAutoNum type="arabicPeriod"/>
            </a:pPr>
            <a:r>
              <a:rPr lang="en-US" sz="2600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Aggregates anonymous stress tags to give administration real-time insights  into campus mental  health trends.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68810" y="7184992"/>
            <a:ext cx="16009258" cy="3016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Bahnschrift SemiBold" panose="020B0502040204020203" pitchFamily="34" charset="0"/>
                <a:ea typeface="Times New Roman Bold"/>
                <a:cs typeface="Times New Roman Bold"/>
                <a:sym typeface="Times New Roman Bold"/>
              </a:rPr>
              <a:t>Explain how it solves the problem: </a:t>
            </a:r>
          </a:p>
          <a:p>
            <a:pPr marL="1341438" lvl="1" indent="-457200" algn="l">
              <a:spcBef>
                <a:spcPct val="0"/>
              </a:spcBef>
              <a:buFont typeface="+mj-lt"/>
              <a:buAutoNum type="arabicPeriod"/>
            </a:pPr>
            <a:r>
              <a:rPr lang="en-US" sz="2600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It guarantees absolute privacy by using MongoDB TTL indexes to auto-delete chat logs after 24 hours, completely removing “Surveillance anxiety”.</a:t>
            </a:r>
          </a:p>
          <a:p>
            <a:pPr marL="1341438" lvl="1" indent="-457200" algn="l">
              <a:spcBef>
                <a:spcPct val="0"/>
              </a:spcBef>
              <a:buFont typeface="+mj-lt"/>
              <a:buAutoNum type="arabicPeriod"/>
            </a:pPr>
            <a:r>
              <a:rPr lang="en-US" sz="2600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It bridges the “Empathy Gap” by ensuring students only talk to vetted peers who actually understand our specific campus culture and academic rigors.</a:t>
            </a:r>
          </a:p>
          <a:p>
            <a:pPr marL="1341438" lvl="1" indent="-457200" algn="l">
              <a:spcBef>
                <a:spcPct val="0"/>
              </a:spcBef>
              <a:buFont typeface="+mj-lt"/>
              <a:buAutoNum type="arabicPeriod"/>
            </a:pPr>
            <a:r>
              <a:rPr lang="en-US" sz="2600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It eliminates the “High-Friction Crisis” by replacing clunky counselor directories with an instant, two-click matching engine.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613071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742232" y="396022"/>
            <a:ext cx="7099399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SYSTEM ARCHITECTURE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76631" y="1549207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C229115-8740-4709-FA46-D3F1313D9D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2257" y="2198227"/>
            <a:ext cx="13763485" cy="75134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954672" y="396022"/>
            <a:ext cx="10896416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FLOWCHART  /  WORKING PROCESS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87580" y="1549207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007241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884A3F7-1BBB-B68D-E128-BF70F95EBC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0068" y="2261721"/>
            <a:ext cx="13647173" cy="74499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294513" y="377531"/>
            <a:ext cx="3698974" cy="82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 STACK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1406083"/>
            <a:ext cx="16230600" cy="149974"/>
            <a:chOff x="0" y="0"/>
            <a:chExt cx="4052983" cy="374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1" name="Freeform 11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5D5D43B4-499F-3351-0B29-3D817C1A5A54}"/>
              </a:ext>
            </a:extLst>
          </p:cNvPr>
          <p:cNvSpPr txBox="1"/>
          <p:nvPr/>
        </p:nvSpPr>
        <p:spPr>
          <a:xfrm>
            <a:off x="1139371" y="2924065"/>
            <a:ext cx="16009258" cy="6109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Bahnschrift SemiBold" panose="020B0502040204020203" pitchFamily="34" charset="0"/>
                <a:ea typeface="Times New Roman Bold"/>
                <a:cs typeface="Times New Roman Bold"/>
                <a:sym typeface="Times New Roman Bold"/>
              </a:rPr>
              <a:t>Frontend ( UI Layer ): </a:t>
            </a:r>
          </a:p>
          <a:p>
            <a:pPr marL="1341438" lvl="1" indent="-514350" algn="l">
              <a:lnSpc>
                <a:spcPts val="4759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600" b="1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React +  Vite</a:t>
            </a:r>
          </a:p>
          <a:p>
            <a:pPr marL="1341438" lvl="1" indent="-514350" algn="l">
              <a:lnSpc>
                <a:spcPts val="4759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600" b="1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Type Script</a:t>
            </a:r>
          </a:p>
          <a:p>
            <a:pPr marL="1341438" lvl="1" indent="-514350" algn="l">
              <a:lnSpc>
                <a:spcPts val="4759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600" b="1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Tailwind CSS  &amp;  </a:t>
            </a:r>
            <a:r>
              <a:rPr lang="en-US" sz="2600" b="1" spc="-100" dirty="0" err="1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shadcn</a:t>
            </a:r>
            <a:r>
              <a:rPr lang="en-US" sz="2600" b="1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/</a:t>
            </a:r>
            <a:r>
              <a:rPr lang="en-US" sz="2600" b="1" spc="-100" dirty="0" err="1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ui</a:t>
            </a:r>
            <a:endParaRPr lang="en-US" sz="2600" b="1" spc="-100" dirty="0">
              <a:solidFill>
                <a:srgbClr val="FFFFFF"/>
              </a:solidFill>
              <a:latin typeface="Candara Light" panose="020E0502030303020204" pitchFamily="34" charset="0"/>
              <a:ea typeface="Times New Roman Bold"/>
              <a:cs typeface="Times New Roman Bold"/>
              <a:sym typeface="Times New Roman Bold"/>
            </a:endParaRPr>
          </a:p>
          <a:p>
            <a:pPr marL="1341438" lvl="1" indent="-514350" algn="l">
              <a:lnSpc>
                <a:spcPts val="4759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600" b="1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Zod  &amp;  React  Hook  form</a:t>
            </a:r>
          </a:p>
          <a:p>
            <a:pPr marL="722313" lvl="1" indent="-368300" algn="l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400" b="1" spc="-100" dirty="0">
                <a:solidFill>
                  <a:srgbClr val="FFFFFF"/>
                </a:solidFill>
                <a:latin typeface="Bahnschrift SemiBold" panose="020B0502040204020203" pitchFamily="34" charset="0"/>
                <a:ea typeface="Times New Roman Bold"/>
                <a:cs typeface="Times New Roman Bold"/>
                <a:sym typeface="Times New Roman Bold"/>
              </a:rPr>
              <a:t>Backend ( The Logic Layer ):</a:t>
            </a:r>
          </a:p>
          <a:p>
            <a:pPr marL="1341438" lvl="1" indent="-530225" algn="l">
              <a:lnSpc>
                <a:spcPts val="4759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600" b="1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Node.js &amp; Express.js</a:t>
            </a:r>
          </a:p>
          <a:p>
            <a:pPr marL="1341438" lvl="1" indent="-530225" algn="l">
              <a:lnSpc>
                <a:spcPts val="4759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600" b="1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Zod (Server-Side) </a:t>
            </a:r>
          </a:p>
          <a:p>
            <a:pPr marL="722313" lvl="1" indent="-368300" algn="l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400" b="1" spc="-100" dirty="0">
                <a:solidFill>
                  <a:srgbClr val="FFFFFF"/>
                </a:solidFill>
                <a:latin typeface="Bahnschrift SemiBold" panose="020B0502040204020203" pitchFamily="34" charset="0"/>
                <a:ea typeface="Times New Roman Bold"/>
                <a:cs typeface="Times New Roman Bold"/>
                <a:sym typeface="Times New Roman Bold"/>
              </a:rPr>
              <a:t>Database ( Storage Layer ):</a:t>
            </a:r>
          </a:p>
          <a:p>
            <a:pPr marL="1341438" lvl="1" indent="-514350" algn="l">
              <a:lnSpc>
                <a:spcPts val="4759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600" b="1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MongoDB Atlas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730032" y="376633"/>
            <a:ext cx="7004000" cy="82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PLAN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16733" y="1459754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05E17914-46C9-BFB9-AC79-8659C15E7CB3}"/>
              </a:ext>
            </a:extLst>
          </p:cNvPr>
          <p:cNvSpPr txBox="1"/>
          <p:nvPr/>
        </p:nvSpPr>
        <p:spPr>
          <a:xfrm>
            <a:off x="1254029" y="2669932"/>
            <a:ext cx="15303435" cy="5954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3425" lvl="1" indent="-379413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100" dirty="0">
                <a:solidFill>
                  <a:srgbClr val="FFFFFF"/>
                </a:solidFill>
                <a:latin typeface="Bahnschrift SemiBold" panose="020B0502040204020203" pitchFamily="34" charset="0"/>
                <a:ea typeface="Times New Roman Bold"/>
                <a:cs typeface="Times New Roman Bold"/>
                <a:sym typeface="Times New Roman Bold"/>
              </a:rPr>
              <a:t>Modules And Features we will build: </a:t>
            </a:r>
          </a:p>
          <a:p>
            <a:pPr marL="1254125" lvl="1" indent="-457200" algn="l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600" b="1" spc="-100" dirty="0">
                <a:solidFill>
                  <a:srgbClr val="FFFFFF"/>
                </a:solidFill>
                <a:latin typeface="Candara" panose="020E0502030303020204" pitchFamily="34" charset="0"/>
                <a:ea typeface="Times New Roman Bold"/>
                <a:cs typeface="Times New Roman Bold"/>
                <a:sym typeface="Times New Roman Bold"/>
              </a:rPr>
              <a:t>Anonymous Student Entry: </a:t>
            </a:r>
            <a:r>
              <a:rPr lang="en-US" sz="2600" b="1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Zero-login access using temporary aliases and a 24/7 interactive coping toolkit.</a:t>
            </a:r>
          </a:p>
          <a:p>
            <a:pPr marL="1254125" lvl="1" indent="-457200" algn="l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600" b="1" spc="-100" dirty="0">
                <a:solidFill>
                  <a:srgbClr val="FFFFFF"/>
                </a:solidFill>
                <a:latin typeface="Candara" panose="020E0502030303020204" pitchFamily="34" charset="0"/>
                <a:ea typeface="Times New Roman Bold"/>
                <a:cs typeface="Times New Roman Bold"/>
                <a:sym typeface="Times New Roman Bold"/>
              </a:rPr>
              <a:t>Smart routing &amp; safety: </a:t>
            </a:r>
            <a:r>
              <a:rPr lang="en-US" sz="2600" b="1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tag-based peer matching with automated trigger-word detection for instant emergency diversion.</a:t>
            </a:r>
          </a:p>
          <a:p>
            <a:pPr marL="1254125" lvl="1" indent="-457200" algn="l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600" b="1" spc="-100" dirty="0">
                <a:solidFill>
                  <a:srgbClr val="FFFFFF"/>
                </a:solidFill>
                <a:latin typeface="Candara" panose="020E0502030303020204" pitchFamily="34" charset="0"/>
                <a:ea typeface="Times New Roman Bold"/>
                <a:cs typeface="Times New Roman Bold"/>
                <a:sym typeface="Times New Roman Bold"/>
              </a:rPr>
              <a:t>Vetted Volunteer Portal: </a:t>
            </a:r>
            <a:r>
              <a:rPr lang="en-US" sz="2600" b="1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A secure dashboard for trained peers to manage anonymous chats, featuring a one-click counselor escalation button.</a:t>
            </a:r>
          </a:p>
          <a:p>
            <a:pPr marL="1254125" lvl="1" indent="-457200" algn="l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600" b="1" spc="-100" dirty="0">
                <a:solidFill>
                  <a:srgbClr val="FFFFFF"/>
                </a:solidFill>
                <a:latin typeface="Candara" panose="020E0502030303020204" pitchFamily="34" charset="0"/>
                <a:ea typeface="Times New Roman Bold"/>
                <a:cs typeface="Times New Roman Bold"/>
                <a:sym typeface="Times New Roman Bold"/>
              </a:rPr>
              <a:t>Admin Analytics dashboard: </a:t>
            </a:r>
            <a:r>
              <a:rPr lang="en-US" sz="2600" b="1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Aggregates anonymized stress tags to give campus wardens real-time, predictive wellness trends</a:t>
            </a:r>
            <a:r>
              <a:rPr lang="en-US" sz="2600" b="1" spc="-100" dirty="0">
                <a:solidFill>
                  <a:srgbClr val="FFFFFF"/>
                </a:solidFill>
                <a:latin typeface="Candara" panose="020E0502030303020204" pitchFamily="34" charset="0"/>
                <a:ea typeface="Times New Roman Bold"/>
                <a:cs typeface="Times New Roman Bold"/>
                <a:sym typeface="Times New Roman Bold"/>
              </a:rPr>
              <a:t>.</a:t>
            </a:r>
          </a:p>
          <a:p>
            <a:pPr marL="1254125" lvl="1" indent="-457200" algn="l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600" b="1" spc="-100" dirty="0">
                <a:solidFill>
                  <a:srgbClr val="FFFFFF"/>
                </a:solidFill>
                <a:latin typeface="Candara" panose="020E0502030303020204" pitchFamily="34" charset="0"/>
                <a:ea typeface="Times New Roman Bold"/>
                <a:cs typeface="Times New Roman Bold"/>
                <a:sym typeface="Times New Roman Bold"/>
              </a:rPr>
              <a:t>Privacy core (Auto-Burn): </a:t>
            </a:r>
            <a:r>
              <a:rPr lang="en-US" sz="2600" b="1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24-hour TTL database indexes that automatically delete all chat logs to guarantee absolute anonymity.</a:t>
            </a:r>
            <a:endParaRPr lang="en-US" sz="2400" b="1" spc="-100" dirty="0">
              <a:solidFill>
                <a:srgbClr val="FFFFFF"/>
              </a:solidFill>
              <a:latin typeface="Candara Light" panose="020E0502030303020204" pitchFamily="34" charset="0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896552" y="377591"/>
            <a:ext cx="9291395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OUTCOME  / IMPACT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65415" y="1441864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D19CE2A8-87B8-C6CA-59EF-4FB5E2F0E574}"/>
              </a:ext>
            </a:extLst>
          </p:cNvPr>
          <p:cNvSpPr txBox="1"/>
          <p:nvPr/>
        </p:nvSpPr>
        <p:spPr>
          <a:xfrm>
            <a:off x="1254029" y="2669932"/>
            <a:ext cx="15303435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3425" lvl="1" indent="-379413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100" dirty="0">
                <a:solidFill>
                  <a:srgbClr val="FFFFFF"/>
                </a:solidFill>
                <a:latin typeface="Bahnschrift SemiBold" panose="020B0502040204020203" pitchFamily="34" charset="0"/>
                <a:ea typeface="Times New Roman Bold"/>
                <a:cs typeface="Times New Roman Bold"/>
                <a:sym typeface="Times New Roman Bold"/>
              </a:rPr>
              <a:t>Expected Results: </a:t>
            </a:r>
          </a:p>
          <a:p>
            <a:pPr marL="1254125" lvl="1" indent="-457200" algn="l">
              <a:spcBef>
                <a:spcPct val="0"/>
              </a:spcBef>
              <a:buFont typeface="+mj-lt"/>
              <a:buAutoNum type="arabicPeriod"/>
            </a:pPr>
            <a:r>
              <a:rPr lang="en-US" sz="2600" b="1" spc="-100" dirty="0">
                <a:solidFill>
                  <a:srgbClr val="FFFFFF"/>
                </a:solidFill>
                <a:latin typeface="Candara" panose="020E0502030303020204" pitchFamily="34" charset="0"/>
                <a:ea typeface="Times New Roman Bold"/>
                <a:cs typeface="Times New Roman Bold"/>
                <a:sym typeface="Times New Roman Bold"/>
              </a:rPr>
              <a:t>High Adoption rates: </a:t>
            </a:r>
            <a:r>
              <a:rPr lang="en-US" sz="2600" b="1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Removing logins and tracking captures the massive percentage of students who usually suffer in silence.</a:t>
            </a:r>
          </a:p>
          <a:p>
            <a:pPr marL="1254125" lvl="1" indent="-457200" algn="l">
              <a:spcBef>
                <a:spcPct val="0"/>
              </a:spcBef>
              <a:buFont typeface="+mj-lt"/>
              <a:buAutoNum type="arabicPeriod"/>
            </a:pPr>
            <a:r>
              <a:rPr lang="en-US" sz="2600" b="1" spc="-100" dirty="0">
                <a:solidFill>
                  <a:srgbClr val="FFFFFF"/>
                </a:solidFill>
                <a:latin typeface="Candara" panose="020E0502030303020204" pitchFamily="34" charset="0"/>
                <a:ea typeface="Times New Roman Bold"/>
                <a:cs typeface="Times New Roman Bold"/>
                <a:sym typeface="Times New Roman Bold"/>
              </a:rPr>
              <a:t>Instant De-escalation: </a:t>
            </a:r>
            <a:r>
              <a:rPr lang="en-US" sz="2600" b="1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Automated tag-</a:t>
            </a:r>
            <a:r>
              <a:rPr lang="en-US" sz="2600" b="1" spc="-100" dirty="0" err="1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mactching</a:t>
            </a:r>
            <a:r>
              <a:rPr lang="en-US" sz="2600" b="1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 reduces the wait time for emotional support from days ( waiting for a counsellor) to seconds.</a:t>
            </a:r>
            <a:endParaRPr lang="en-US" sz="2400" b="1" spc="-100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A94DBDE0-D19F-34C0-246F-5C1783EF9F4A}"/>
              </a:ext>
            </a:extLst>
          </p:cNvPr>
          <p:cNvSpPr txBox="1"/>
          <p:nvPr/>
        </p:nvSpPr>
        <p:spPr>
          <a:xfrm>
            <a:off x="1254029" y="7693418"/>
            <a:ext cx="14643497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3425" lvl="1" indent="-366713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Bahnschrift SemiBold" panose="020B0502040204020203" pitchFamily="34" charset="0"/>
                <a:ea typeface="Times New Roman Bold"/>
                <a:cs typeface="Times New Roman Bold"/>
                <a:sym typeface="Times New Roman Bold"/>
              </a:rPr>
              <a:t>Real-world Impact: </a:t>
            </a:r>
          </a:p>
          <a:p>
            <a:pPr marL="1165225" lvl="1" indent="-546100" algn="l">
              <a:spcBef>
                <a:spcPct val="0"/>
              </a:spcBef>
              <a:buFont typeface="+mj-lt"/>
              <a:buAutoNum type="arabicPeriod"/>
            </a:pPr>
            <a:r>
              <a:rPr lang="en-US" sz="2600" spc="-100" dirty="0">
                <a:solidFill>
                  <a:srgbClr val="FFFFFF"/>
                </a:solidFill>
                <a:latin typeface="Candara" panose="020E0502030303020204" pitchFamily="34" charset="0"/>
                <a:ea typeface="Times New Roman Bold"/>
                <a:cs typeface="Times New Roman Bold"/>
                <a:sym typeface="Times New Roman Bold"/>
              </a:rPr>
              <a:t>Dropout Reduction: </a:t>
            </a:r>
            <a:r>
              <a:rPr lang="en-US" sz="2600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Catching academic burnout early keeps overwhelmed students enrolled, healthy , and graduating.</a:t>
            </a:r>
          </a:p>
          <a:p>
            <a:pPr marL="1165225" lvl="1" indent="-546100" algn="l">
              <a:spcBef>
                <a:spcPct val="0"/>
              </a:spcBef>
              <a:buFont typeface="+mj-lt"/>
              <a:buAutoNum type="arabicPeriod"/>
            </a:pPr>
            <a:r>
              <a:rPr lang="en-US" sz="2600" spc="-100" dirty="0">
                <a:solidFill>
                  <a:srgbClr val="FFFFFF"/>
                </a:solidFill>
                <a:latin typeface="Candara" panose="020E0502030303020204" pitchFamily="34" charset="0"/>
                <a:ea typeface="Times New Roman Bold"/>
                <a:cs typeface="Times New Roman Bold"/>
                <a:sym typeface="Times New Roman Bold"/>
              </a:rPr>
              <a:t>Systematic Campus Change: </a:t>
            </a:r>
            <a:r>
              <a:rPr lang="en-US" sz="2600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The aggregated dashboard gives the administration the data they need to fix root causes (like brutal exam scheduling or placement stress) before they trigger campus-wide crises.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179F50FB-D0F3-EB09-4C43-1AFB14654056}"/>
              </a:ext>
            </a:extLst>
          </p:cNvPr>
          <p:cNvSpPr txBox="1"/>
          <p:nvPr/>
        </p:nvSpPr>
        <p:spPr>
          <a:xfrm>
            <a:off x="1254029" y="5181675"/>
            <a:ext cx="15131428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Bahnschrift SemiBold" panose="020B0502040204020203" pitchFamily="34" charset="0"/>
                <a:ea typeface="Times New Roman Bold"/>
                <a:cs typeface="Times New Roman Bold"/>
                <a:sym typeface="Times New Roman Bold"/>
              </a:rPr>
              <a:t>Benefits to Users: </a:t>
            </a:r>
          </a:p>
          <a:p>
            <a:pPr marL="1076325" lvl="1" indent="-457200" algn="l">
              <a:spcBef>
                <a:spcPct val="0"/>
              </a:spcBef>
              <a:buFont typeface="+mj-lt"/>
              <a:buAutoNum type="arabicPeriod"/>
            </a:pPr>
            <a:r>
              <a:rPr lang="en-US" sz="2600" b="1" spc="-100" dirty="0">
                <a:solidFill>
                  <a:srgbClr val="FFFFFF"/>
                </a:solidFill>
                <a:latin typeface="Candara" panose="020E0502030303020204" pitchFamily="34" charset="0"/>
                <a:ea typeface="Times New Roman Bold"/>
                <a:cs typeface="Times New Roman Bold"/>
                <a:sym typeface="Times New Roman Bold"/>
              </a:rPr>
              <a:t>Stigma- Free Safety:  </a:t>
            </a:r>
            <a:r>
              <a:rPr lang="en-US" sz="2600" b="1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Absolute privacy </a:t>
            </a:r>
            <a:r>
              <a:rPr lang="en-US" sz="2600" b="1" spc="-100" dirty="0" err="1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guarantess</a:t>
            </a:r>
            <a:r>
              <a:rPr lang="en-US" sz="2600" b="1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 they can vent without fear of it affecting their grades, placements, or reputation.</a:t>
            </a:r>
          </a:p>
          <a:p>
            <a:pPr marL="1076325" lvl="1" indent="-457200" algn="l">
              <a:spcBef>
                <a:spcPct val="0"/>
              </a:spcBef>
              <a:buFont typeface="+mj-lt"/>
              <a:buAutoNum type="arabicPeriod"/>
            </a:pPr>
            <a:r>
              <a:rPr lang="en-US" sz="2600" b="1" spc="-100" dirty="0">
                <a:solidFill>
                  <a:srgbClr val="FFFFFF"/>
                </a:solidFill>
                <a:latin typeface="Candara" panose="020E0502030303020204" pitchFamily="34" charset="0"/>
                <a:ea typeface="Times New Roman Bold"/>
                <a:cs typeface="Times New Roman Bold"/>
                <a:sym typeface="Times New Roman Bold"/>
              </a:rPr>
              <a:t>Actionable Empathy:</a:t>
            </a:r>
            <a:r>
              <a:rPr lang="en-US" sz="2600" b="1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 They get practical advice rom campus peers who actually understand their exact local pressures, not generic sympathy from a bot.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61314601-7C84-79B9-022B-69C5177E7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Adoption Rates: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Removing logins and tracking captures the massive percentage of students who usually suffer in silence.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Instant De-escalation: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Automated tag-matching reduces the wait time for emotional support from days (waiting for a counselor) to seconds.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503647" y="331023"/>
            <a:ext cx="9836646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 SCOPE  AND  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84557" y="2763720"/>
            <a:ext cx="15282914" cy="35500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00113" lvl="1" indent="-53340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Bahnschrift SemiBold" panose="020B0502040204020203" pitchFamily="34" charset="0"/>
                <a:ea typeface="Times New Roman Bold"/>
                <a:cs typeface="Times New Roman Bold"/>
                <a:sym typeface="Times New Roman Bold"/>
              </a:rPr>
              <a:t>Future improvements: </a:t>
            </a:r>
          </a:p>
          <a:p>
            <a:pPr marL="1519238" lvl="1" indent="-457200" algn="l">
              <a:spcBef>
                <a:spcPct val="0"/>
              </a:spcBef>
              <a:buFont typeface="+mj-lt"/>
              <a:buAutoNum type="arabicPeriod"/>
            </a:pPr>
            <a:r>
              <a:rPr lang="en-US" sz="2600" b="1" spc="-100" dirty="0">
                <a:solidFill>
                  <a:srgbClr val="FFFFFF"/>
                </a:solidFill>
                <a:latin typeface="Candara" panose="020E0502030303020204" pitchFamily="34" charset="0"/>
                <a:ea typeface="Times New Roman Bold"/>
                <a:cs typeface="Times New Roman Bold"/>
                <a:sym typeface="Times New Roman Bold"/>
              </a:rPr>
              <a:t>AI  </a:t>
            </a:r>
            <a:r>
              <a:rPr lang="en-US" sz="2600" b="1" spc="-100" dirty="0" err="1">
                <a:solidFill>
                  <a:srgbClr val="FFFFFF"/>
                </a:solidFill>
                <a:latin typeface="Candara" panose="020E0502030303020204" pitchFamily="34" charset="0"/>
                <a:ea typeface="Times New Roman Bold"/>
                <a:cs typeface="Times New Roman Bold"/>
                <a:sym typeface="Times New Roman Bold"/>
              </a:rPr>
              <a:t>Falllback</a:t>
            </a:r>
            <a:r>
              <a:rPr lang="en-US" sz="2600" b="1" spc="-100" dirty="0">
                <a:solidFill>
                  <a:srgbClr val="FFFFFF"/>
                </a:solidFill>
                <a:latin typeface="Candara" panose="020E0502030303020204" pitchFamily="34" charset="0"/>
                <a:ea typeface="Times New Roman Bold"/>
                <a:cs typeface="Times New Roman Bold"/>
                <a:sym typeface="Times New Roman Bold"/>
              </a:rPr>
              <a:t> Companion: </a:t>
            </a:r>
            <a:r>
              <a:rPr lang="en-US" sz="2600" b="1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An automated, anonymous AI listener deployed for immediate 24/7 support during hours when human peer volunteers are offline. </a:t>
            </a:r>
          </a:p>
          <a:p>
            <a:pPr marL="1519238" lvl="1" indent="-457200" algn="l">
              <a:spcBef>
                <a:spcPct val="0"/>
              </a:spcBef>
              <a:buFont typeface="+mj-lt"/>
              <a:buAutoNum type="arabicPeriod"/>
            </a:pPr>
            <a:r>
              <a:rPr lang="en-US" sz="2600" b="1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We will upgrade the dashboard to analyze anonymous trends and predict campus-wide stress spikes so the university can act proactively</a:t>
            </a:r>
          </a:p>
          <a:p>
            <a:pPr marL="1519238" lvl="1" indent="-457200" algn="l">
              <a:spcBef>
                <a:spcPct val="0"/>
              </a:spcBef>
              <a:buFont typeface="+mj-lt"/>
              <a:buAutoNum type="arabicPeriod"/>
            </a:pPr>
            <a:r>
              <a:rPr lang="en-US" sz="2600" b="1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Porting the Web application to iOS/Android to enable instant push notifications and even lower-friction access for students in crisis.</a:t>
            </a:r>
          </a:p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endParaRPr lang="en-US" sz="2400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36043" y="8215821"/>
            <a:ext cx="14761484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3425" lvl="1" indent="-468313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Bahnschrift SemiBold" panose="020B0502040204020203" pitchFamily="34" charset="0"/>
                <a:ea typeface="Times New Roman Bold"/>
                <a:cs typeface="Times New Roman Bold"/>
                <a:sym typeface="Times New Roman Bold"/>
              </a:rPr>
              <a:t>Scalability of the project: </a:t>
            </a:r>
          </a:p>
          <a:p>
            <a:pPr marL="1341438" lvl="1" indent="-546100" algn="l">
              <a:spcBef>
                <a:spcPct val="0"/>
              </a:spcBef>
              <a:buFont typeface="+mj-lt"/>
              <a:buAutoNum type="arabicPeriod"/>
            </a:pPr>
            <a:r>
              <a:rPr lang="en-US" sz="2600" spc="-271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The Platform scales instantly at zero initial cost, ready to handle thousands of concurrent students.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6043" y="6113870"/>
            <a:ext cx="15131428" cy="1815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3425" lvl="1" indent="-468313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Bahnschrift SemiBold" panose="020B0502040204020203" pitchFamily="34" charset="0"/>
                <a:ea typeface="Times New Roman Bold"/>
                <a:cs typeface="Times New Roman Bold"/>
                <a:sym typeface="Times New Roman Bold"/>
              </a:rPr>
              <a:t>Final summary: </a:t>
            </a:r>
          </a:p>
          <a:p>
            <a:pPr marL="1341438" lvl="1" indent="-457200" algn="l">
              <a:spcBef>
                <a:spcPct val="0"/>
              </a:spcBef>
              <a:buFont typeface="+mj-lt"/>
              <a:buAutoNum type="arabicPeriod"/>
            </a:pPr>
            <a:r>
              <a:rPr lang="en-US" sz="2600" b="1" spc="-100" dirty="0">
                <a:solidFill>
                  <a:srgbClr val="FFFFFF"/>
                </a:solidFill>
                <a:latin typeface="Candara Light" panose="020E0502030303020204" pitchFamily="34" charset="0"/>
                <a:ea typeface="Times New Roman Bold"/>
                <a:cs typeface="Times New Roman Bold"/>
                <a:sym typeface="Times New Roman Bold"/>
              </a:rPr>
              <a:t>A campus-specific, fully anonymous mental health platform that guarantees absolute privacy through auto-deletion data, providing students with an instant safety net while giving administration actionable insights to prevent crises.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36043" y="1423973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941</Words>
  <Application>Microsoft Office PowerPoint</Application>
  <PresentationFormat>Custom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 Times New Roman Bold</vt:lpstr>
      <vt:lpstr>Arial</vt:lpstr>
      <vt:lpstr>Bahnschrift SemiBold</vt:lpstr>
      <vt:lpstr>Calibri</vt:lpstr>
      <vt:lpstr>Candara</vt:lpstr>
      <vt:lpstr>Candara Light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Mohit Bhootra</dc:creator>
  <cp:lastModifiedBy>Mohit Bhootra</cp:lastModifiedBy>
  <cp:revision>2</cp:revision>
  <dcterms:modified xsi:type="dcterms:W3CDTF">2026-04-02T16:28:54Z</dcterms:modified>
</cp:coreProperties>
</file>